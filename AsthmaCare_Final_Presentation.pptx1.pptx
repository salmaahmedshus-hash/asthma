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0292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2169AA"/>
          </a:solidFill>
        </p:spPr>
      </p:sp>
      <p:sp>
        <p:nvSpPr>
          <p:cNvPr id="3" name="Shape 1"/>
          <p:cNvSpPr/>
          <p:nvPr/>
        </p:nvSpPr>
        <p:spPr>
          <a:xfrm>
            <a:off x="10378440" y="1051560"/>
            <a:ext cx="1417320" cy="1417320"/>
          </a:xfrm>
          <a:prstGeom prst="roundRect">
            <a:avLst>
              <a:gd name="adj" fmla="val 11613"/>
            </a:avLst>
          </a:prstGeom>
          <a:solidFill>
            <a:srgbClr val="189A91"/>
          </a:solidFill>
        </p:spPr>
      </p:sp>
      <p:sp>
        <p:nvSpPr>
          <p:cNvPr id="4" name="Shape 2"/>
          <p:cNvSpPr/>
          <p:nvPr/>
        </p:nvSpPr>
        <p:spPr>
          <a:xfrm>
            <a:off x="10012680" y="169164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4AB5C2"/>
          </a:solidFill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AI  •  RAG  •  FINAL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Evidence-grounded asthma support for safer, faster patient decisions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patient-centered RAG prototype built on the NICE NG245 asthma guideline — presented for final judge evaluation on Day 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964692" cy="457200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617720"/>
            <a:ext cx="9646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4772" y="4617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97380" y="4617720"/>
            <a:ext cx="1156716" cy="457200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7380" y="4617720"/>
            <a:ext cx="11567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54096" y="4617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46704" y="4617720"/>
            <a:ext cx="1060704" cy="457200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4617720"/>
            <a:ext cx="10607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07408" y="4617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0016" y="4617720"/>
            <a:ext cx="1636776" cy="457200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4617720"/>
            <a:ext cx="16367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Awareness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461772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46177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617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Appropriate Care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263640"/>
            <a:ext cx="10881360" cy="0"/>
          </a:xfrm>
          <a:prstGeom prst="line">
            <a:avLst/>
          </a:prstGeom>
          <a:noFill/>
          <a:ln w="12700">
            <a:solidFill>
              <a:srgbClr val="1A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Triple SSS   •   Sama Yasser  •  Salma Ahmed Hussien  •  Salma Ahmed Mohamed   •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PRESENTATION  •  DAY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Stabilize. Demonstrate. Defend.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goal today is not to add more features to Asthma Care — it is to prove the system is reliable, evidence-grounded, and safe.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A3A5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734056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58952" y="3291840"/>
            <a:ext cx="2916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3749040"/>
            <a:ext cx="2916936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Freeze scope. Fix broken flows. Re-run evaluation on a locked build so results are trustworthy.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51460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A3A5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734056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07992" y="3291840"/>
            <a:ext cx="2916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3749040"/>
            <a:ext cx="2916936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 short, predictable live demo that shows one success case and one honest refusal case.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251460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1A3A52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2734056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57032" y="3291840"/>
            <a:ext cx="291693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57032" y="3749040"/>
            <a:ext cx="2916936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judge questions with evidence — metrics, citations, and clearly stated limitations.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asthma symptoms happen, uncertainty matters.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is designed around the patient's need for clear, evidence-grounded guidance and timely escalation.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3538728" cy="4023360"/>
          </a:xfrm>
          <a:prstGeom prst="roundRect">
            <a:avLst>
              <a:gd name="adj" fmla="val 2067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1837944"/>
            <a:ext cx="3136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patient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185416"/>
            <a:ext cx="3136392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asthma information can be difficult.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Symptoms may create uncertainty about urgency.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Knowing when to seek emergency care is critical.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38728" cy="4023360"/>
          </a:xfrm>
          <a:prstGeom prst="roundRect">
            <a:avLst>
              <a:gd name="adj" fmla="val 2067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8848" y="1837944"/>
            <a:ext cx="3136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product opportunity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185416"/>
            <a:ext cx="3136392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trusted asthma information easier to access.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 retrieved guideline evidence into a clear response.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 risk and direct emergency cases to appropriate care.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538728" cy="4023360"/>
          </a:xfrm>
          <a:prstGeom prst="roundRect">
            <a:avLst>
              <a:gd name="adj" fmla="val 2067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3608" y="1837944"/>
            <a:ext cx="3136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Asthma Care does not 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2185416"/>
            <a:ext cx="3136392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independent diagnosis.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medication prescribing or personalized treatment plans.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replacement for doctors or emergency services.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patient journey, grounded in clinical evidence.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prototype focuses on support, risk awareness, emergency direction, and access to appropriate care.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9" name="Text 7"/>
          <p:cNvSpPr/>
          <p:nvPr/>
        </p:nvSpPr>
        <p:spPr>
          <a:xfrm>
            <a:off x="1289304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/ Describe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207568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question or symptoms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78608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4" name="Text 12"/>
          <p:cNvSpPr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79776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79776" y="2852928"/>
            <a:ext cx="207568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Relevant NICE evidence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55464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43016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9" name="Text 17"/>
          <p:cNvSpPr/>
          <p:nvPr/>
        </p:nvSpPr>
        <p:spPr>
          <a:xfrm>
            <a:off x="5843016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56632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56632" y="2852928"/>
            <a:ext cx="207568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+ source + confidence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19872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4" name="Text 22"/>
          <p:cNvSpPr/>
          <p:nvPr/>
        </p:nvSpPr>
        <p:spPr>
          <a:xfrm>
            <a:off x="8119872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33488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33488" y="2852928"/>
            <a:ext cx="207568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Risk-level awareness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09176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396728" y="1828800"/>
            <a:ext cx="502920" cy="502920"/>
          </a:xfrm>
          <a:prstGeom prst="ellipse">
            <a:avLst/>
          </a:prstGeom>
          <a:solidFill>
            <a:srgbClr val="C1443C"/>
          </a:solidFill>
        </p:spPr>
      </p:sp>
      <p:sp>
        <p:nvSpPr>
          <p:cNvPr id="29" name="Text 27"/>
          <p:cNvSpPr/>
          <p:nvPr/>
        </p:nvSpPr>
        <p:spPr>
          <a:xfrm>
            <a:off x="10396728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10344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10344" y="2852928"/>
            <a:ext cx="207568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guidance + nearby hospitals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069080"/>
            <a:ext cx="11183112" cy="1600200"/>
          </a:xfrm>
          <a:prstGeom prst="roundRect">
            <a:avLst>
              <a:gd name="adj" fmla="val 5714"/>
            </a:avLst>
          </a:prstGeom>
          <a:solidFill>
            <a:srgbClr val="0E1F35"/>
          </a:solidFill>
        </p:spPr>
      </p:sp>
      <p:sp>
        <p:nvSpPr>
          <p:cNvPr id="33" name="Text 31"/>
          <p:cNvSpPr/>
          <p:nvPr/>
        </p:nvSpPr>
        <p:spPr>
          <a:xfrm>
            <a:off x="822960" y="42793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VALUE PROPOSITION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asthma information   •   Less uncertainty during symptoms   •   Safer escalation when emergency care is needed   •   Nearby-hospital access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USERS &amp;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patients — with healthcare context in mind.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 and clinics are supporting stakeholders; the current prototype is primarily patient-facing.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0E1F35"/>
          </a:solidFill>
        </p:spPr>
      </p:sp>
      <p:sp>
        <p:nvSpPr>
          <p:cNvPr id="9" name="Shape 7"/>
          <p:cNvSpPr/>
          <p:nvPr/>
        </p:nvSpPr>
        <p:spPr>
          <a:xfrm>
            <a:off x="1645920" y="2148840"/>
            <a:ext cx="1005840" cy="100584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0" name="Text 8"/>
          <p:cNvSpPr/>
          <p:nvPr/>
        </p:nvSpPr>
        <p:spPr>
          <a:xfrm>
            <a:off x="1645920" y="21488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user of the Asthma Care experience.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24528" y="1837944"/>
            <a:ext cx="31181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patient gains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24528" y="2185416"/>
            <a:ext cx="3118104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Clear, source-grounded asthma information.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high-level indication of urgency.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direction when emergency care is needed.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Nearby-hospital information when indicated.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913632" cy="4023360"/>
          </a:xfrm>
          <a:prstGeom prst="roundRect">
            <a:avLst>
              <a:gd name="adj" fmla="val 1869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73568" y="1837944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Supporting stakeholders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73568" y="2185416"/>
            <a:ext cx="3511296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 / healthcare professionals.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Clinics and healthcare facilities.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connections remain subject to clinical, safety, privacy, and product 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</p:txBody>
      </p:sp>
      <p:pic>
        <p:nvPicPr>
          <p:cNvPr id="64" name="Picture 63" descr="WhatsApp Image 2026-08-20 at 3.11.4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CLINICAL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is a product requirement, not an afterthought.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prototype has explicit boundaries for what it can answer and when it must escalate.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1837944"/>
            <a:ext cx="49926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185416"/>
            <a:ext cx="4992624" cy="1709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Responses are grounded in retrieved NICE NG245 knowledge-base chunks only.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claim is presented without a traceable evidence source.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513832" cy="2331720"/>
          </a:xfrm>
          <a:prstGeom prst="roundRect">
            <a:avLst>
              <a:gd name="adj" fmla="val 3137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837944"/>
            <a:ext cx="51114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144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boundaries — outside product 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73368" y="2185416"/>
            <a:ext cx="5111496" cy="1709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diagnosis.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Prescribing or recommending specific medicines.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treatment plans.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clinical decision-making.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Replacing doctors, emergency services, or emergency treatment.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25196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0E1F35"/>
          </a:solidFill>
        </p:spPr>
      </p:sp>
      <p:sp>
        <p:nvSpPr>
          <p:cNvPr id="15" name="Text 13"/>
          <p:cNvSpPr/>
          <p:nvPr/>
        </p:nvSpPr>
        <p:spPr>
          <a:xfrm>
            <a:off x="685800" y="439826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NICE-only evidence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12064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Responses are grounded in retrieved NICE NG245 knowledge-base chunks.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425196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0E1F35"/>
          </a:solidFill>
        </p:spPr>
      </p:sp>
      <p:sp>
        <p:nvSpPr>
          <p:cNvPr id="19" name="Text 17"/>
          <p:cNvSpPr/>
          <p:nvPr/>
        </p:nvSpPr>
        <p:spPr>
          <a:xfrm>
            <a:off x="4480560" y="439826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475488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Abstain when evidence is insufficient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512064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assistant does not guess or invent unsupported clinical facts.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92440" y="425196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0E1F35"/>
          </a:solidFill>
        </p:spPr>
      </p:sp>
      <p:sp>
        <p:nvSpPr>
          <p:cNvPr id="23" name="Text 21"/>
          <p:cNvSpPr/>
          <p:nvPr/>
        </p:nvSpPr>
        <p:spPr>
          <a:xfrm>
            <a:off x="8275320" y="4398264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4754880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clinician in the loop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75320" y="512064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product supports patients; final medical decisions remain with qualified professionals.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KNOWLEDGE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knowledge base is deliberately narrow and traceable.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assistant is defined around one NICE guideline and a strict output contract.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0E1F35"/>
          </a:solidFill>
        </p:spPr>
      </p:sp>
      <p:sp>
        <p:nvSpPr>
          <p:cNvPr id="9" name="Text 7"/>
          <p:cNvSpPr/>
          <p:nvPr/>
        </p:nvSpPr>
        <p:spPr>
          <a:xfrm>
            <a:off x="777240" y="1965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NICE NG245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Asthma: diagnosis, monitoring and chronic asthma management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731520" cy="320040"/>
          </a:xfrm>
          <a:prstGeom prst="roundRect">
            <a:avLst>
              <a:gd name="adj" fmla="val 48571"/>
            </a:avLst>
          </a:prstGeom>
          <a:solidFill>
            <a:srgbClr val="1A3A52"/>
          </a:solidFill>
          <a:ln w="9525">
            <a:solidFill>
              <a:srgbClr val="189A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3200400"/>
            <a:ext cx="731520" cy="320040"/>
          </a:xfrm>
          <a:prstGeom prst="roundRect">
            <a:avLst>
              <a:gd name="adj" fmla="val 48571"/>
            </a:avLst>
          </a:prstGeom>
          <a:solidFill>
            <a:srgbClr val="1A3A52"/>
          </a:solidFill>
          <a:ln w="9525">
            <a:solidFill>
              <a:srgbClr val="189A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2004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3200400"/>
            <a:ext cx="731520" cy="320040"/>
          </a:xfrm>
          <a:prstGeom prst="roundRect">
            <a:avLst>
              <a:gd name="adj" fmla="val 48571"/>
            </a:avLst>
          </a:prstGeom>
          <a:solidFill>
            <a:srgbClr val="1A3A52"/>
          </a:solidFill>
          <a:ln w="9525">
            <a:solidFill>
              <a:srgbClr val="189A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32004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Published: 27 November 2024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Population: </a:t>
            </a:r>
            <a:r>
              <a:rPr lang="en-US" sz="11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adults, young people and children. Age-specific recommendations apply.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448056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3776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scope excludes managing severe asthma or acute asthma attacks.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691640"/>
            <a:ext cx="58338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 output contract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2103120"/>
            <a:ext cx="5833872" cy="576072"/>
          </a:xfrm>
          <a:prstGeom prst="roundRect">
            <a:avLst>
              <a:gd name="adj" fmla="val 9524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103120"/>
            <a:ext cx="146304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2103120"/>
            <a:ext cx="39136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Evidence-grounded response.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2788920"/>
            <a:ext cx="5833872" cy="576072"/>
          </a:xfrm>
          <a:prstGeom prst="roundRect">
            <a:avLst>
              <a:gd name="adj" fmla="val 9524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788920"/>
            <a:ext cx="146304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2788920"/>
            <a:ext cx="39136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/ Medium / Low.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3474720"/>
            <a:ext cx="5833872" cy="576072"/>
          </a:xfrm>
          <a:prstGeom prst="roundRect">
            <a:avLst>
              <a:gd name="adj" fmla="val 9524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474720"/>
            <a:ext cx="146304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3474720"/>
            <a:ext cx="39136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 explanation.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4160520"/>
            <a:ext cx="5833872" cy="576072"/>
          </a:xfrm>
          <a:prstGeom prst="roundRect">
            <a:avLst>
              <a:gd name="adj" fmla="val 9524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4160520"/>
            <a:ext cx="146304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4160520"/>
            <a:ext cx="39136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 abstention when evidence is insufficient.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4846320"/>
            <a:ext cx="5833872" cy="576072"/>
          </a:xfrm>
          <a:prstGeom prst="roundRect">
            <a:avLst>
              <a:gd name="adj" fmla="val 9524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846320"/>
            <a:ext cx="146304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4846320"/>
            <a:ext cx="3913632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NICE citation format tied to the retrieved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— EVALUATION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metrics into an evaluation story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 are not decoration — they explain what Asthma Care can and cannot do.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2679192" cy="4023360"/>
          </a:xfrm>
          <a:prstGeom prst="roundRect">
            <a:avLst>
              <a:gd name="adj" fmla="val 2730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1883664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231136"/>
            <a:ext cx="2276856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asthma-related test questions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Grouped by topic / question type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out-of-scope cases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source page / section labeled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79192" cy="4023360"/>
          </a:xfrm>
          <a:prstGeom prst="roundRect">
            <a:avLst>
              <a:gd name="adj" fmla="val 2730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84448" y="1883664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231136"/>
            <a:ext cx="2276856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Precision@3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MRR (optional)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 example review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failure examples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2679192" cy="4023360"/>
          </a:xfrm>
          <a:prstGeom prst="roundRect">
            <a:avLst>
              <a:gd name="adj" fmla="val 2730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64808" y="1883664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2231136"/>
            <a:ext cx="2276856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Citation accuracy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Unsupported-claim rate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Claim-to-evidence spot checks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annotated example trace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1737360"/>
            <a:ext cx="2679192" cy="4023360"/>
          </a:xfrm>
          <a:prstGeom prst="roundRect">
            <a:avLst>
              <a:gd name="adj" fmla="val 2730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45168" y="1883664"/>
            <a:ext cx="22768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45168" y="2231136"/>
            <a:ext cx="2276856" cy="3401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Refusal rate on out-of-scope prompts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Confidence-threshold behavior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Disclaimer always shown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Risky / red-flag prompt tests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— EVALUATION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results — grounding the story in numbers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dashboard simple enough for a judge to read in under one minute. Replace the values below with the live evaluation run.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0E1F35"/>
          </a:solidFill>
        </p:spPr>
      </p:sp>
      <p:sp>
        <p:nvSpPr>
          <p:cNvPr id="9" name="Text 7"/>
          <p:cNvSpPr/>
          <p:nvPr/>
        </p:nvSpPr>
        <p:spPr>
          <a:xfrm>
            <a:off x="685800" y="1965960"/>
            <a:ext cx="23134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TBD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Precision@3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Relevant chunks in top 3 /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0E1F35"/>
          </a:solidFill>
        </p:spPr>
      </p:sp>
      <p:sp>
        <p:nvSpPr>
          <p:cNvPr id="13" name="Text 11"/>
          <p:cNvSpPr/>
          <p:nvPr/>
        </p:nvSpPr>
        <p:spPr>
          <a:xfrm>
            <a:off x="3566160" y="1965960"/>
            <a:ext cx="23134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TBD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Citation Accuracy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citations / total citations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0E1F35"/>
          </a:solidFill>
        </p:spPr>
      </p:sp>
      <p:sp>
        <p:nvSpPr>
          <p:cNvPr id="17" name="Text 15"/>
          <p:cNvSpPr/>
          <p:nvPr/>
        </p:nvSpPr>
        <p:spPr>
          <a:xfrm>
            <a:off x="6446520" y="1965960"/>
            <a:ext cx="23134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TBD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Faithfulness (unsupported-claim rate)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Unsupported claims / total claims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0" y="173736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0E1F35"/>
          </a:solidFill>
        </p:spPr>
      </p:sp>
      <p:sp>
        <p:nvSpPr>
          <p:cNvPr id="21" name="Text 19"/>
          <p:cNvSpPr/>
          <p:nvPr/>
        </p:nvSpPr>
        <p:spPr>
          <a:xfrm>
            <a:off x="9326880" y="1965960"/>
            <a:ext cx="231343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TBD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326880" y="2697480"/>
            <a:ext cx="231343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Refusal Rate (out-of-scope)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0" y="3246120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refusals / out-of-scope prompts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069080"/>
            <a:ext cx="11183112" cy="1691640"/>
          </a:xfrm>
          <a:prstGeom prst="roundRect">
            <a:avLst>
              <a:gd name="adj" fmla="val 5405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51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Method, in one 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572000"/>
            <a:ext cx="1060704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metric is computed on the frozen build against the 20-question evaluation set, with results and one insight per metric reported alongside the method used — not just a final score.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— INTERPRETATION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metrics tell 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strong team explains both success and failure honestly.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6903720" cy="3977640"/>
          </a:xfrm>
          <a:prstGeom prst="roundRect">
            <a:avLst>
              <a:gd name="adj" fmla="val 1839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1883664"/>
            <a:ext cx="65013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read the results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231136"/>
            <a:ext cx="6501384" cy="3355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retrieval score but low faithfulness → likely a prompt / generation issue.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retrieval score → likely a chunking or embedding issue.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citation accuracy → likely a metadata or citation-formatting issue.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refusal on out-of-scope prompts → the safety gate is working as intended.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737360"/>
            <a:ext cx="4096512" cy="3977640"/>
          </a:xfrm>
          <a:prstGeom prst="roundRect">
            <a:avLst>
              <a:gd name="adj" fmla="val 1839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0688" y="1883664"/>
            <a:ext cx="36941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144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90688" y="2231136"/>
            <a:ext cx="3694176" cy="33558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fake or estimated metrics.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a score with no explained method.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Rely only on screenshots as evidence.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Omit known limitations.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— ANSWER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consistent answer structure, every 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Formatting is part of safety: it makes every answer auditable.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938528"/>
            <a:ext cx="457200" cy="45720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0" name="Text 8"/>
          <p:cNvSpPr/>
          <p:nvPr/>
        </p:nvSpPr>
        <p:spPr>
          <a:xfrm>
            <a:off x="722376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956816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2376" y="2606040"/>
            <a:ext cx="3099816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 answer to the patient's question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overconfident diagnosis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scope boundaries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Practical, but not personalized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938528"/>
            <a:ext cx="457200" cy="45720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5" name="Text 13"/>
          <p:cNvSpPr/>
          <p:nvPr/>
        </p:nvSpPr>
        <p:spPr>
          <a:xfrm>
            <a:off x="4517136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1956816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used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17136" y="2606040"/>
            <a:ext cx="3099816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extracted evidence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NICE NG245 document name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title and page number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score (optional)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1737360"/>
            <a:ext cx="3538728" cy="4023360"/>
          </a:xfrm>
          <a:prstGeom prst="roundRect">
            <a:avLst>
              <a:gd name="adj" fmla="val 2326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1896" y="1938528"/>
            <a:ext cx="457200" cy="45720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0" name="Text 18"/>
          <p:cNvSpPr/>
          <p:nvPr/>
        </p:nvSpPr>
        <p:spPr>
          <a:xfrm>
            <a:off x="8311896" y="1938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15400" y="1956816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block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11896" y="2606040"/>
            <a:ext cx="3099816" cy="2971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level: High / Medium / Low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Insufficient-evidence warning when relevant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Non-medical-advice disclaimer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consult a clinician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— LIVE DEMO 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predictable, judge-mapped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refusal case is not a weakness — it proves responsible AI behavior.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1749552" cy="457200"/>
          </a:xfrm>
          <a:prstGeom prst="roundRect">
            <a:avLst>
              <a:gd name="adj" fmla="val 50000"/>
            </a:avLst>
          </a:prstGeom>
          <a:solidFill>
            <a:srgbClr val="0E1F35"/>
          </a:solidFill>
        </p:spPr>
      </p:sp>
      <p:sp>
        <p:nvSpPr>
          <p:cNvPr id="9" name="Text 7"/>
          <p:cNvSpPr/>
          <p:nvPr/>
        </p:nvSpPr>
        <p:spPr>
          <a:xfrm>
            <a:off x="502920" y="1691640"/>
            <a:ext cx="1749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89632" y="1691640"/>
            <a:ext cx="1749552" cy="457200"/>
          </a:xfrm>
          <a:prstGeom prst="roundRect">
            <a:avLst>
              <a:gd name="adj" fmla="val 50000"/>
            </a:avLst>
          </a:prstGeom>
          <a:solidFill>
            <a:srgbClr val="0E1F35"/>
          </a:solidFill>
        </p:spPr>
      </p:sp>
      <p:sp>
        <p:nvSpPr>
          <p:cNvPr id="11" name="Text 9"/>
          <p:cNvSpPr/>
          <p:nvPr/>
        </p:nvSpPr>
        <p:spPr>
          <a:xfrm>
            <a:off x="2389632" y="1691640"/>
            <a:ext cx="1749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query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76344" y="1691640"/>
            <a:ext cx="1749552" cy="457200"/>
          </a:xfrm>
          <a:prstGeom prst="roundRect">
            <a:avLst>
              <a:gd name="adj" fmla="val 50000"/>
            </a:avLst>
          </a:prstGeom>
          <a:solidFill>
            <a:srgbClr val="0E1F35"/>
          </a:solidFill>
        </p:spPr>
      </p:sp>
      <p:sp>
        <p:nvSpPr>
          <p:cNvPr id="13" name="Text 11"/>
          <p:cNvSpPr/>
          <p:nvPr/>
        </p:nvSpPr>
        <p:spPr>
          <a:xfrm>
            <a:off x="4276344" y="1691640"/>
            <a:ext cx="1749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chunks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1749552" cy="457200"/>
          </a:xfrm>
          <a:prstGeom prst="roundRect">
            <a:avLst>
              <a:gd name="adj" fmla="val 50000"/>
            </a:avLst>
          </a:prstGeom>
          <a:solidFill>
            <a:srgbClr val="0E1F35"/>
          </a:solidFill>
        </p:spPr>
      </p:sp>
      <p:sp>
        <p:nvSpPr>
          <p:cNvPr id="15" name="Text 13"/>
          <p:cNvSpPr/>
          <p:nvPr/>
        </p:nvSpPr>
        <p:spPr>
          <a:xfrm>
            <a:off x="6163056" y="1691640"/>
            <a:ext cx="1749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answer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9768" y="1691640"/>
            <a:ext cx="1749552" cy="457200"/>
          </a:xfrm>
          <a:prstGeom prst="roundRect">
            <a:avLst>
              <a:gd name="adj" fmla="val 50000"/>
            </a:avLst>
          </a:prstGeom>
          <a:solidFill>
            <a:srgbClr val="0E1F35"/>
          </a:solidFill>
        </p:spPr>
      </p:sp>
      <p:sp>
        <p:nvSpPr>
          <p:cNvPr id="17" name="Text 15"/>
          <p:cNvSpPr/>
          <p:nvPr/>
        </p:nvSpPr>
        <p:spPr>
          <a:xfrm>
            <a:off x="8049768" y="1691640"/>
            <a:ext cx="1749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citation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36480" y="1691640"/>
            <a:ext cx="1749552" cy="457200"/>
          </a:xfrm>
          <a:prstGeom prst="roundRect">
            <a:avLst>
              <a:gd name="adj" fmla="val 50000"/>
            </a:avLst>
          </a:prstGeom>
          <a:solidFill>
            <a:srgbClr val="0E1F35"/>
          </a:solidFill>
        </p:spPr>
      </p:sp>
      <p:sp>
        <p:nvSpPr>
          <p:cNvPr id="19" name="Text 17"/>
          <p:cNvSpPr/>
          <p:nvPr/>
        </p:nvSpPr>
        <p:spPr>
          <a:xfrm>
            <a:off x="9936480" y="1691640"/>
            <a:ext cx="1749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refusal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423160"/>
            <a:ext cx="3538728" cy="3337560"/>
          </a:xfrm>
          <a:prstGeom prst="roundRect">
            <a:avLst>
              <a:gd name="adj" fmla="val 2192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" y="2569464"/>
            <a:ext cx="3136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A — Success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2916936"/>
            <a:ext cx="3136392" cy="2715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clearly covered by NICE NG245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Relevant chunks appear in top-k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cites document + section/page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level is justified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2423160"/>
            <a:ext cx="3538728" cy="3337560"/>
          </a:xfrm>
          <a:prstGeom prst="roundRect">
            <a:avLst>
              <a:gd name="adj" fmla="val 2192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98848" y="2569464"/>
            <a:ext cx="3136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6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B — Multi-step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98848" y="2916936"/>
            <a:ext cx="3136392" cy="2715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needs more than one chunk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combines evidence safely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Citations cover each major claim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unsupported expansion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2440" y="2423160"/>
            <a:ext cx="3538728" cy="3337560"/>
          </a:xfrm>
          <a:prstGeom prst="roundRect">
            <a:avLst>
              <a:gd name="adj" fmla="val 2192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  <a:effectLst>
            <a:outerShdw blurRad="76200" dist="25400" dir="5400000" algn="bl" rotWithShape="0">
              <a:srgbClr val="9AAE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93608" y="2569464"/>
            <a:ext cx="3136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144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C — Refusal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3608" y="2916936"/>
            <a:ext cx="3136392" cy="2715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outside the NICE NG245 scope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states evidence is insufficient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invented recommendation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directed to professional judgment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—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question to appropriate care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product journey connects evidence retrieval with a clear safety response.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9" name="Text 7"/>
          <p:cNvSpPr/>
          <p:nvPr/>
        </p:nvSpPr>
        <p:spPr>
          <a:xfrm>
            <a:off x="1289304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the assistant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78608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4" name="Text 12"/>
          <p:cNvSpPr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79776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Assistant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79776" y="2852928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a question or describe symptoms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55464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43016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9" name="Text 17"/>
          <p:cNvSpPr/>
          <p:nvPr/>
        </p:nvSpPr>
        <p:spPr>
          <a:xfrm>
            <a:off x="5843016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56632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Retrieval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56632" y="2852928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relevant NICE evidence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0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19872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4" name="Text 22"/>
          <p:cNvSpPr/>
          <p:nvPr/>
        </p:nvSpPr>
        <p:spPr>
          <a:xfrm>
            <a:off x="8119872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33488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33488" y="2852928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+ sources + confidence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09176" y="1847088"/>
            <a:ext cx="2011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D2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396728" y="1828800"/>
            <a:ext cx="502920" cy="502920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9" name="Text 27"/>
          <p:cNvSpPr/>
          <p:nvPr/>
        </p:nvSpPr>
        <p:spPr>
          <a:xfrm>
            <a:off x="10396728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10344" y="2487168"/>
            <a:ext cx="20756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Awareness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10344" y="2852928"/>
            <a:ext cx="207568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High-level urgency indication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794760"/>
            <a:ext cx="11183112" cy="1920240"/>
          </a:xfrm>
          <a:prstGeom prst="roundRect">
            <a:avLst>
              <a:gd name="adj" fmla="val 4762"/>
            </a:avLst>
          </a:prstGeom>
          <a:solidFill>
            <a:srgbClr val="0E1F35"/>
          </a:solidFill>
        </p:spPr>
      </p:sp>
      <p:sp>
        <p:nvSpPr>
          <p:cNvPr id="33" name="Text 31"/>
          <p:cNvSpPr/>
          <p:nvPr/>
        </p:nvSpPr>
        <p:spPr>
          <a:xfrm>
            <a:off x="822960" y="4050792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guidance &amp; nearby hospitals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" y="4526280"/>
            <a:ext cx="1054303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Directs the user toward appropriate medical care when risk indicators are present.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nearby hospitals when emergency care is indicated.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Asthma Care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the QR code to open the system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6" name="Text 4"/>
          <p:cNvSpPr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281635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an asthma-related question or symptoms.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0" name="Text 8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015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88720" y="373075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a grounded response with source information.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4" name="Text 12"/>
          <p:cNvSpPr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3159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 safely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88720" y="464515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risk awareness and emergency direction when indicated.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53212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53212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PATIENT-FACING PROTOTYPE  •  Evidence-grounded asthma support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66760" y="1417320"/>
            <a:ext cx="301752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</p:spPr>
      </p:sp>
      <p:pic>
        <p:nvPicPr>
          <p:cNvPr id="20" name="Image 0" descr="/home/claude/assets/q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691640"/>
            <a:ext cx="2468880" cy="2468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89A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—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focused prototype with room to grow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expansion is intentionally separated from current functionality.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3736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5F9FB"/>
          </a:solidFill>
          <a:ln w="9525">
            <a:solidFill>
              <a:srgbClr val="BED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F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prototype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237744" cy="23774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1" name="Text 9"/>
          <p:cNvSpPr/>
          <p:nvPr/>
        </p:nvSpPr>
        <p:spPr>
          <a:xfrm>
            <a:off x="731520" y="242316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36829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Patient-facing asthma assistant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53512"/>
            <a:ext cx="237744" cy="23774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4" name="Text 12"/>
          <p:cNvSpPr/>
          <p:nvPr/>
        </p:nvSpPr>
        <p:spPr>
          <a:xfrm>
            <a:off x="731520" y="29535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898648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Guideline-grounded responses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83864"/>
            <a:ext cx="237744" cy="23774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17" name="Text 15"/>
          <p:cNvSpPr/>
          <p:nvPr/>
        </p:nvSpPr>
        <p:spPr>
          <a:xfrm>
            <a:off x="731520" y="34838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/ citation presentation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014216"/>
            <a:ext cx="237744" cy="23774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0" name="Text 18"/>
          <p:cNvSpPr/>
          <p:nvPr/>
        </p:nvSpPr>
        <p:spPr>
          <a:xfrm>
            <a:off x="731520" y="40142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95935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Risk-level indication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544568"/>
            <a:ext cx="237744" cy="23774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3" name="Text 21"/>
          <p:cNvSpPr/>
          <p:nvPr/>
        </p:nvSpPr>
        <p:spPr>
          <a:xfrm>
            <a:off x="731520" y="454456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448970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Emergency guidance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5074920"/>
            <a:ext cx="237744" cy="23774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26" name="Text 24"/>
          <p:cNvSpPr/>
          <p:nvPr/>
        </p:nvSpPr>
        <p:spPr>
          <a:xfrm>
            <a:off x="731520" y="507492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5020056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Nearby-hospital information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45352" y="173736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0E1F35"/>
          </a:solidFill>
        </p:spPr>
      </p:sp>
      <p:sp>
        <p:nvSpPr>
          <p:cNvPr id="29" name="Text 27"/>
          <p:cNvSpPr/>
          <p:nvPr/>
        </p:nvSpPr>
        <p:spPr>
          <a:xfrm>
            <a:off x="6473952" y="192024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direction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73952" y="2468880"/>
            <a:ext cx="329184" cy="32918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31" name="Text 29"/>
          <p:cNvSpPr/>
          <p:nvPr/>
        </p:nvSpPr>
        <p:spPr>
          <a:xfrm>
            <a:off x="6473952" y="2468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31152" y="2395728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expansion beyond the current prototype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3337560"/>
            <a:ext cx="329184" cy="32918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34" name="Text 32"/>
          <p:cNvSpPr/>
          <p:nvPr/>
        </p:nvSpPr>
        <p:spPr>
          <a:xfrm>
            <a:off x="6473952" y="33375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31152" y="3264408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Potential connection with verified doctors / healthcare facilities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73952" y="4206240"/>
            <a:ext cx="329184" cy="329184"/>
          </a:xfrm>
          <a:prstGeom prst="ellipse">
            <a:avLst/>
          </a:prstGeom>
          <a:solidFill>
            <a:srgbClr val="189A91"/>
          </a:solidFill>
        </p:spPr>
      </p:sp>
      <p:sp>
        <p:nvSpPr>
          <p:cNvPr id="37" name="Text 35"/>
          <p:cNvSpPr/>
          <p:nvPr/>
        </p:nvSpPr>
        <p:spPr>
          <a:xfrm>
            <a:off x="6473952" y="42062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31152" y="4133088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Broader patient-to-care pathways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73952" y="5120640"/>
            <a:ext cx="498348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52120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new capability must be clinically, safely, and technically validated before being presented as implemented.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02920"/>
            <a:ext cx="1188720" cy="1188720"/>
          </a:xfrm>
          <a:prstGeom prst="roundRect">
            <a:avLst>
              <a:gd name="adj" fmla="val 12308"/>
            </a:avLst>
          </a:prstGeom>
          <a:solidFill>
            <a:srgbClr val="2169AA"/>
          </a:solidFill>
        </p:spPr>
      </p:sp>
      <p:sp>
        <p:nvSpPr>
          <p:cNvPr id="3" name="Shape 1"/>
          <p:cNvSpPr/>
          <p:nvPr/>
        </p:nvSpPr>
        <p:spPr>
          <a:xfrm>
            <a:off x="10378440" y="96012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189A91"/>
          </a:solidFill>
        </p:spPr>
      </p:sp>
      <p:sp>
        <p:nvSpPr>
          <p:cNvPr id="4" name="Text 2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in one sentence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CE8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patient-centered RAG assistant that turns trusted asthma guideline evidence into clear, source-grounded support — while knowing when to step back and direct the patient to professional care.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481328" cy="438912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29000"/>
            <a:ext cx="148132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22576" y="3429000"/>
            <a:ext cx="1225296" cy="438912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3429000"/>
            <a:ext cx="122529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429000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1A3A52"/>
          </a:solidFill>
          <a:ln w="12700">
            <a:solidFill>
              <a:srgbClr val="189A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429000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1A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Triple SSS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 Yasser   •   Salma Ahmed Hussien   •   Salma Ahmed Mohamed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B5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5471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Asthma Care  •  Triple SSS  •  Final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75720" y="65471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E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9525">
            <a:solidFill>
              <a:srgbClr val="BED2E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9684</Words>
  <Application>WPS Presentation</Application>
  <PresentationFormat>On-screen Show (16:9)</PresentationFormat>
  <Paragraphs>593</Paragraphs>
  <Slides>17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Mega Store</cp:lastModifiedBy>
  <cp:revision>3</cp:revision>
  <dcterms:created xsi:type="dcterms:W3CDTF">2026-08-20T11:41:00Z</dcterms:created>
  <dcterms:modified xsi:type="dcterms:W3CDTF">2026-08-20T12:46:34Z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F12495C58C58498ABB1385C868F4FCD3_13</vt:lpwstr>
  </property>
</Properties>
</file>